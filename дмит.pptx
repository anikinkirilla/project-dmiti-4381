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Nunito"/>
      <p:regular r:id="rId31"/>
      <p:bold r:id="rId32"/>
      <p:italic r:id="rId33"/>
      <p:boldItalic r:id="rId34"/>
    </p:embeddedFont>
    <p:embeddedFont>
      <p:font typeface="Maven Pro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E04555-39C1-451D-A96E-33ABE52C6B06}">
  <a:tblStyle styleId="{E5E04555-39C1-451D-A96E-33ABE52C6B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Nunito-italic.fntdata"/><Relationship Id="rId10" Type="http://schemas.openxmlformats.org/officeDocument/2006/relationships/slide" Target="slides/slide4.xml"/><Relationship Id="rId32" Type="http://schemas.openxmlformats.org/officeDocument/2006/relationships/font" Target="fonts/Nunito-bold.fntdata"/><Relationship Id="rId13" Type="http://schemas.openxmlformats.org/officeDocument/2006/relationships/slide" Target="slides/slide7.xml"/><Relationship Id="rId35" Type="http://schemas.openxmlformats.org/officeDocument/2006/relationships/font" Target="fonts/MavenPro-regular.fntdata"/><Relationship Id="rId12" Type="http://schemas.openxmlformats.org/officeDocument/2006/relationships/slide" Target="slides/slide6.xml"/><Relationship Id="rId34" Type="http://schemas.openxmlformats.org/officeDocument/2006/relationships/font" Target="fonts/Nunit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MavenPro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668e998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668e998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8025401d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a8025401d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668e99881_1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a668e99881_1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668e99881_1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a668e99881_1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668e99881_1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a668e99881_1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668e99881_1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668e99881_1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7d58203b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a7d58203b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7d58203b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7d58203b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7d58203b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a7d58203b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7d58203b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a7d58203b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8025401d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a8025401d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8025401d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8025401d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7d58203b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a7d58203b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842da9009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a842da9009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7d58203b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a7d58203b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8025401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a8025401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a8025401d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a8025401d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8025401d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a8025401d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a8025401d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a8025401d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8025401d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a8025401d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a8025401d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a8025401d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8025401d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a8025401d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a8025401d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a8025401d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Отчет</a:t>
            </a:r>
            <a:r>
              <a:rPr lang="ru"/>
              <a:t> о создании системы компьютерной алгебры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Коллоквиум по </a:t>
            </a:r>
            <a:r>
              <a:rPr lang="ru"/>
              <a:t>дискретной</a:t>
            </a:r>
            <a:r>
              <a:rPr lang="ru"/>
              <a:t> математике и теоретической информатике</a:t>
            </a:r>
            <a:endParaRPr/>
          </a:p>
        </p:txBody>
      </p:sp>
      <p:pic>
        <p:nvPicPr>
          <p:cNvPr id="279" name="Google Shape;2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94" y="180269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Технические характеристики</a:t>
            </a:r>
            <a:endParaRPr/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1366375" y="1649050"/>
            <a:ext cx="6967800" cy="32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latin typeface="Times New Roman"/>
                <a:ea typeface="Times New Roman"/>
                <a:cs typeface="Times New Roman"/>
                <a:sym typeface="Times New Roman"/>
              </a:rPr>
              <a:t>Язык программирования: </a:t>
            </a:r>
            <a:r>
              <a:rPr lang="ru" sz="2000">
                <a:latin typeface="Times New Roman"/>
                <a:ea typeface="Times New Roman"/>
                <a:cs typeface="Times New Roman"/>
                <a:sym typeface="Times New Roman"/>
              </a:rPr>
              <a:t>Был выбран язык программирования Python из-за его мобильности и более простой структуры.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2000">
                <a:latin typeface="Times New Roman"/>
                <a:ea typeface="Times New Roman"/>
                <a:cs typeface="Times New Roman"/>
                <a:sym typeface="Times New Roman"/>
              </a:rPr>
              <a:t>Реализация модулей:</a:t>
            </a:r>
            <a:r>
              <a:rPr lang="ru" sz="2000">
                <a:latin typeface="Times New Roman"/>
                <a:ea typeface="Times New Roman"/>
                <a:cs typeface="Times New Roman"/>
                <a:sym typeface="Times New Roman"/>
              </a:rPr>
              <a:t> С </a:t>
            </a:r>
            <a:r>
              <a:rPr lang="ru" sz="2000">
                <a:latin typeface="Times New Roman"/>
                <a:ea typeface="Times New Roman"/>
                <a:cs typeface="Times New Roman"/>
                <a:sym typeface="Times New Roman"/>
              </a:rPr>
              <a:t>использованием</a:t>
            </a:r>
            <a:r>
              <a:rPr lang="ru" sz="2000">
                <a:latin typeface="Times New Roman"/>
                <a:ea typeface="Times New Roman"/>
                <a:cs typeface="Times New Roman"/>
                <a:sym typeface="Times New Roman"/>
              </a:rPr>
              <a:t> принципов ООП были созданы 4 класса и модули, которые реализованы, как методы, и относятся к </a:t>
            </a:r>
            <a:r>
              <a:rPr lang="ru" sz="2000">
                <a:latin typeface="Times New Roman"/>
                <a:ea typeface="Times New Roman"/>
                <a:cs typeface="Times New Roman"/>
                <a:sym typeface="Times New Roman"/>
              </a:rPr>
              <a:t>одному</a:t>
            </a:r>
            <a:r>
              <a:rPr lang="ru" sz="2000">
                <a:latin typeface="Times New Roman"/>
                <a:ea typeface="Times New Roman"/>
                <a:cs typeface="Times New Roman"/>
                <a:sym typeface="Times New Roman"/>
              </a:rPr>
              <a:t> из 4 классов </a:t>
            </a:r>
            <a:r>
              <a:rPr lang="ru" sz="2000">
                <a:latin typeface="Times New Roman"/>
                <a:ea typeface="Times New Roman"/>
                <a:cs typeface="Times New Roman"/>
                <a:sym typeface="Times New Roman"/>
              </a:rPr>
              <a:t>или являются</a:t>
            </a:r>
            <a:r>
              <a:rPr lang="ru" sz="2000">
                <a:latin typeface="Times New Roman"/>
                <a:ea typeface="Times New Roman"/>
                <a:cs typeface="Times New Roman"/>
                <a:sym typeface="Times New Roman"/>
              </a:rPr>
              <a:t> смежными.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2000">
                <a:latin typeface="Times New Roman"/>
                <a:ea typeface="Times New Roman"/>
                <a:cs typeface="Times New Roman"/>
                <a:sym typeface="Times New Roman"/>
              </a:rPr>
              <a:t>Тестирование классов:</a:t>
            </a:r>
            <a:r>
              <a:rPr lang="ru" sz="2000">
                <a:latin typeface="Times New Roman"/>
                <a:ea typeface="Times New Roman"/>
                <a:cs typeface="Times New Roman"/>
                <a:sym typeface="Times New Roman"/>
              </a:rPr>
              <a:t> Для тестирования программы были написаны unit тесты для проверки крайних случаев.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2000">
                <a:latin typeface="Times New Roman"/>
                <a:ea typeface="Times New Roman"/>
                <a:cs typeface="Times New Roman"/>
                <a:sym typeface="Times New Roman"/>
              </a:rPr>
              <a:t>Интерфейс: </a:t>
            </a:r>
            <a:r>
              <a:rPr lang="ru" sz="2000">
                <a:latin typeface="Times New Roman"/>
                <a:ea typeface="Times New Roman"/>
                <a:cs typeface="Times New Roman"/>
                <a:sym typeface="Times New Roman"/>
              </a:rPr>
              <a:t>Использует библиотеку tkinter для создания графического интерфейса.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919" y="542344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Состав команды</a:t>
            </a:r>
            <a:endParaRPr/>
          </a:p>
        </p:txBody>
      </p:sp>
      <p:sp>
        <p:nvSpPr>
          <p:cNvPr id="292" name="Google Shape;292;p15"/>
          <p:cNvSpPr txBox="1"/>
          <p:nvPr>
            <p:ph idx="1" type="body"/>
          </p:nvPr>
        </p:nvSpPr>
        <p:spPr>
          <a:xfrm>
            <a:off x="1303800" y="15978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Аникин Кирилл - Архитектор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Камнева Злата - Контроль качества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Соколовский Артём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Богданов Никита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Сурин Максим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Чумаков Никита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Захаренко Александр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Имховик Наталья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3" name="Google Shape;29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919" y="486644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результатов проекта.</a:t>
            </a:r>
            <a:endParaRPr/>
          </a:p>
        </p:txBody>
      </p:sp>
      <p:sp>
        <p:nvSpPr>
          <p:cNvPr id="299" name="Google Shape;299;p16"/>
          <p:cNvSpPr txBox="1"/>
          <p:nvPr>
            <p:ph idx="1" type="body"/>
          </p:nvPr>
        </p:nvSpPr>
        <p:spPr>
          <a:xfrm>
            <a:off x="700325" y="15165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На следующих слайдах будет </a:t>
            </a: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представлено</a:t>
            </a: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 количество строк кода на каждый класс в </a:t>
            </a: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таблицах</a:t>
            </a: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 и диаграммах, а также общий результат работы с кодом, для наглядной демонстрации распределения проекта и качестве выполнения.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0" name="Google Shape;3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919" y="440244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>
            <p:ph type="title"/>
          </p:nvPr>
        </p:nvSpPr>
        <p:spPr>
          <a:xfrm>
            <a:off x="1242275" y="3635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Количество строк кода по классам и методам</a:t>
            </a:r>
            <a:endParaRPr/>
          </a:p>
        </p:txBody>
      </p:sp>
      <p:pic>
        <p:nvPicPr>
          <p:cNvPr id="306" name="Google Shape;30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850" y="1263113"/>
            <a:ext cx="727710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394" y="263819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 txBox="1"/>
          <p:nvPr>
            <p:ph type="title"/>
          </p:nvPr>
        </p:nvSpPr>
        <p:spPr>
          <a:xfrm>
            <a:off x="1199225" y="2417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Диаграмма сравнения распределения </a:t>
            </a:r>
            <a:r>
              <a:rPr lang="ru"/>
              <a:t>количества строк</a:t>
            </a:r>
            <a:r>
              <a:rPr lang="ru"/>
              <a:t> кода на методы класса Natural</a:t>
            </a:r>
            <a:endParaRPr/>
          </a:p>
        </p:txBody>
      </p:sp>
      <p:pic>
        <p:nvPicPr>
          <p:cNvPr id="313" name="Google Shape;3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0775" y="1491888"/>
            <a:ext cx="5619750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344" y="492594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>
            <p:ph type="title"/>
          </p:nvPr>
        </p:nvSpPr>
        <p:spPr>
          <a:xfrm>
            <a:off x="1229975" y="229300"/>
            <a:ext cx="7030500" cy="10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</a:t>
            </a:r>
            <a:r>
              <a:rPr lang="ru"/>
              <a:t>иаграмма сравнения распределения количества строк кода на методы класса Integer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0" name="Google Shape;3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5000" y="1513000"/>
            <a:ext cx="5638800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094" y="458794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 txBox="1"/>
          <p:nvPr>
            <p:ph type="title"/>
          </p:nvPr>
        </p:nvSpPr>
        <p:spPr>
          <a:xfrm>
            <a:off x="1303800" y="229300"/>
            <a:ext cx="7030500" cy="13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</a:t>
            </a:r>
            <a:r>
              <a:rPr lang="ru"/>
              <a:t>иаграмма сравнения распределения количества строк кода на методы класса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Rational</a:t>
            </a:r>
            <a:endParaRPr/>
          </a:p>
        </p:txBody>
      </p:sp>
      <p:pic>
        <p:nvPicPr>
          <p:cNvPr id="327" name="Google Shape;3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850" y="1546350"/>
            <a:ext cx="558165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669" y="458819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1"/>
          <p:cNvSpPr txBox="1"/>
          <p:nvPr>
            <p:ph type="title"/>
          </p:nvPr>
        </p:nvSpPr>
        <p:spPr>
          <a:xfrm>
            <a:off x="1242275" y="1617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</a:t>
            </a:r>
            <a:r>
              <a:rPr lang="ru"/>
              <a:t>иаграмма сравнения распределения количества строк кода на методы класса Polynomial </a:t>
            </a:r>
            <a:endParaRPr/>
          </a:p>
        </p:txBody>
      </p:sp>
      <p:pic>
        <p:nvPicPr>
          <p:cNvPr id="334" name="Google Shape;3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1988" y="1555875"/>
            <a:ext cx="5610225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394" y="393819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2"/>
          <p:cNvSpPr txBox="1"/>
          <p:nvPr>
            <p:ph type="title"/>
          </p:nvPr>
        </p:nvSpPr>
        <p:spPr>
          <a:xfrm>
            <a:off x="1303800" y="235450"/>
            <a:ext cx="7030500" cy="13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</a:t>
            </a:r>
            <a:r>
              <a:rPr lang="ru"/>
              <a:t>иаграмма сравнения распределения количества строк кода на методы подкласса Trans </a:t>
            </a:r>
            <a:endParaRPr/>
          </a:p>
        </p:txBody>
      </p:sp>
      <p:pic>
        <p:nvPicPr>
          <p:cNvPr id="341" name="Google Shape;34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2338" y="1471163"/>
            <a:ext cx="5648325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669" y="416944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Среднее объема кода методов и классов</a:t>
            </a:r>
            <a:endParaRPr/>
          </a:p>
        </p:txBody>
      </p:sp>
      <p:pic>
        <p:nvPicPr>
          <p:cNvPr id="348" name="Google Shape;34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2555" y="1831350"/>
            <a:ext cx="5979974" cy="210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819" y="412394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4"/>
          <p:cNvSpPr txBox="1"/>
          <p:nvPr>
            <p:ph type="title"/>
          </p:nvPr>
        </p:nvSpPr>
        <p:spPr>
          <a:xfrm>
            <a:off x="1303800" y="3884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Медиана и мода количества строк кода в методах по классам</a:t>
            </a:r>
            <a:endParaRPr/>
          </a:p>
        </p:txBody>
      </p:sp>
      <p:graphicFrame>
        <p:nvGraphicFramePr>
          <p:cNvPr id="355" name="Google Shape;355;p24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{E5E04555-39C1-451D-A96E-33ABE52C6B06}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Класс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Мода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Медиана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800">
                          <a:solidFill>
                            <a:schemeClr val="dk2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Natural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4, 8, 14, 20, встречаются по 2 раза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11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712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800">
                          <a:solidFill>
                            <a:schemeClr val="dk2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Integer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 и 6, встречаются по 2 раза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800">
                          <a:solidFill>
                            <a:schemeClr val="dk2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Rational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2, 7 </a:t>
                      </a:r>
                      <a:r>
                        <a:rPr lang="ru"/>
                        <a:t>встречаются по 2 раза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800">
                          <a:solidFill>
                            <a:schemeClr val="dk2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Polynomial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3, встречается 4 раза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56" name="Google Shape;3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919" y="429444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5"/>
          <p:cNvSpPr txBox="1"/>
          <p:nvPr>
            <p:ph type="title"/>
          </p:nvPr>
        </p:nvSpPr>
        <p:spPr>
          <a:xfrm>
            <a:off x="1303800" y="710950"/>
            <a:ext cx="7030500" cy="8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Медиана и мода общего объема кода</a:t>
            </a:r>
            <a:endParaRPr/>
          </a:p>
        </p:txBody>
      </p:sp>
      <p:sp>
        <p:nvSpPr>
          <p:cNvPr id="362" name="Google Shape;362;p2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Мода - 3 и 4, встречаются в проекте по 4 раза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Медиана - 8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3" name="Google Shape;3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919" y="542369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Таблица зависимости методов и классов</a:t>
            </a:r>
            <a:endParaRPr/>
          </a:p>
        </p:txBody>
      </p:sp>
      <p:pic>
        <p:nvPicPr>
          <p:cNvPr id="369" name="Google Shape;36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058" y="1203950"/>
            <a:ext cx="6409944" cy="38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919" y="393819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Медиана, мода и среднее вызовов методов</a:t>
            </a:r>
            <a:endParaRPr/>
          </a:p>
        </p:txBody>
      </p:sp>
      <p:graphicFrame>
        <p:nvGraphicFramePr>
          <p:cNvPr id="376" name="Google Shape;376;p27"/>
          <p:cNvGraphicFramePr/>
          <p:nvPr/>
        </p:nvGraphicFramePr>
        <p:xfrm>
          <a:off x="952500" y="152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{E5E04555-39C1-451D-A96E-33ABE52C6B06}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Класс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Медиана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Мода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Среднее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800">
                          <a:solidFill>
                            <a:schemeClr val="dk2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Natural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3 встречается 5 раз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12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800">
                          <a:solidFill>
                            <a:schemeClr val="dk2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Integer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0, 1, 7 </a:t>
                      </a:r>
                      <a:r>
                        <a:rPr lang="ru"/>
                        <a:t>встречаются по 2 раза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2.6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3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800">
                          <a:solidFill>
                            <a:schemeClr val="dk2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Rational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 встречается 3 раза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1.5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800">
                          <a:solidFill>
                            <a:schemeClr val="dk2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Polynomial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 встречается 6 раз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1.4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77" name="Google Shape;3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919" y="429444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Результаты тестирования классов</a:t>
            </a:r>
            <a:endParaRPr/>
          </a:p>
        </p:txBody>
      </p:sp>
      <p:graphicFrame>
        <p:nvGraphicFramePr>
          <p:cNvPr id="383" name="Google Shape;383;p28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{E5E04555-39C1-451D-A96E-33ABE52C6B06}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класс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кол-во тестов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кол-во подтестов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время прохождения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Натуральные числа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0,019с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Целые числа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0,009с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Рациональные числа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26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0,020с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Полиномы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0,049с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84" name="Google Shape;38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919" y="412369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Результаты обратной связи</a:t>
            </a:r>
            <a:endParaRPr/>
          </a:p>
        </p:txBody>
      </p:sp>
      <p:sp>
        <p:nvSpPr>
          <p:cNvPr id="390" name="Google Shape;390;p2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700">
                <a:latin typeface="Times New Roman"/>
                <a:ea typeface="Times New Roman"/>
                <a:cs typeface="Times New Roman"/>
                <a:sym typeface="Times New Roman"/>
              </a:rPr>
              <a:t>Далее будут </a:t>
            </a:r>
            <a:r>
              <a:rPr lang="ru" sz="1700">
                <a:latin typeface="Times New Roman"/>
                <a:ea typeface="Times New Roman"/>
                <a:cs typeface="Times New Roman"/>
                <a:sym typeface="Times New Roman"/>
              </a:rPr>
              <a:t>представлены</a:t>
            </a:r>
            <a:r>
              <a:rPr lang="ru" sz="1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" sz="1700">
                <a:latin typeface="Times New Roman"/>
                <a:ea typeface="Times New Roman"/>
                <a:cs typeface="Times New Roman"/>
                <a:sym typeface="Times New Roman"/>
              </a:rPr>
              <a:t>диаграммы</a:t>
            </a:r>
            <a:r>
              <a:rPr lang="ru" sz="1700">
                <a:latin typeface="Times New Roman"/>
                <a:ea typeface="Times New Roman"/>
                <a:cs typeface="Times New Roman"/>
                <a:sym typeface="Times New Roman"/>
              </a:rPr>
              <a:t> с результатами анонимного опроса обратной связи о общих характеристиках проекта, оценке распределения модулей, сложности работы и её полезности.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1" name="Google Shape;39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919" y="430944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888" y="623888"/>
            <a:ext cx="6372225" cy="38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819" y="458794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175" y="661988"/>
            <a:ext cx="6343650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969" y="440219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700" y="614363"/>
            <a:ext cx="6324600" cy="391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394" y="514494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700" y="619125"/>
            <a:ext cx="6324600" cy="390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969" y="495919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700" y="628650"/>
            <a:ext cx="6324600" cy="388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969" y="393819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075" y="609600"/>
            <a:ext cx="6419850" cy="39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994" y="598569"/>
            <a:ext cx="1039881" cy="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6"/>
          <p:cNvSpPr txBox="1"/>
          <p:nvPr>
            <p:ph type="title"/>
          </p:nvPr>
        </p:nvSpPr>
        <p:spPr>
          <a:xfrm>
            <a:off x="1266650" y="2263150"/>
            <a:ext cx="7030500" cy="21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3600"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внимание!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3" name="Google Shape;43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75" y="175025"/>
            <a:ext cx="1567350" cy="156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